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7" r:id="rId7"/>
    <p:sldId id="296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221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ottomotors.com/resources/videos/automate-your-cart-workflows-with-otto-100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antonrobots.com/mir250-review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mc.ncbi.nlm.nih.gov/articles/PMC9415272/" TargetMode="External"/><Relationship Id="rId5" Type="http://schemas.openxmlformats.org/officeDocument/2006/relationships/hyperlink" Target="https://www.sciencedirect.com/science/article/pii/S2588840425000617#fig1" TargetMode="External"/><Relationship Id="rId4" Type="http://schemas.openxmlformats.org/officeDocument/2006/relationships/hyperlink" Target="https://help.autodesk.com/view/fusion360/ENU/?contextId=GD-SPECIFY-MFG-METHO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 wrap="square"/>
          <a:lstStyle/>
          <a:p>
            <a:pPr algn="ctr"/>
            <a:r>
              <a:rPr sz="2800" b="1" dirty="0">
                <a:solidFill>
                  <a:srgbClr val="20262B"/>
                </a:solidFill>
                <a:latin typeface="Arial"/>
              </a:rPr>
              <a:t>MODULAR AMR PLATFORM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2212848"/>
            <a:ext cx="5760720" cy="2913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sz="1900" b="1" dirty="0">
                <a:solidFill>
                  <a:srgbClr val="20262B"/>
                </a:solidFill>
                <a:latin typeface="Arial"/>
              </a:rPr>
              <a:t>•  Problem Statement ID: </a:t>
            </a:r>
            <a:r>
              <a:rPr sz="1800" dirty="0">
                <a:solidFill>
                  <a:srgbClr val="20262B"/>
                </a:solidFill>
                <a:latin typeface="Arial"/>
              </a:rPr>
              <a:t>SIH26112</a:t>
            </a:r>
            <a:endParaRPr lang="en-US" dirty="0"/>
          </a:p>
          <a:p>
            <a:pPr>
              <a:spcAft>
                <a:spcPts val="800"/>
              </a:spcAft>
            </a:pPr>
            <a:r>
              <a:rPr sz="1900" b="1" dirty="0">
                <a:solidFill>
                  <a:srgbClr val="20262B"/>
                </a:solidFill>
                <a:latin typeface="Arial"/>
              </a:rPr>
              <a:t>•  Problem Statement Title: </a:t>
            </a:r>
            <a:r>
              <a:rPr sz="1800" dirty="0">
                <a:solidFill>
                  <a:srgbClr val="20262B"/>
                </a:solidFill>
                <a:latin typeface="Arial"/>
              </a:rPr>
              <a:t>Design and Develop a Modular Autonomous Mobile Robot (AMR) Platform for Smart Warehouse Automation</a:t>
            </a:r>
          </a:p>
          <a:p>
            <a:pPr>
              <a:spcAft>
                <a:spcPts val="800"/>
              </a:spcAft>
            </a:pPr>
            <a:r>
              <a:rPr sz="1900" b="1" dirty="0">
                <a:solidFill>
                  <a:srgbClr val="20262B"/>
                </a:solidFill>
                <a:latin typeface="Arial"/>
              </a:rPr>
              <a:t>•  Theme: </a:t>
            </a:r>
            <a:r>
              <a:rPr sz="1800" dirty="0">
                <a:solidFill>
                  <a:srgbClr val="20262B"/>
                </a:solidFill>
                <a:latin typeface="Arial"/>
              </a:rPr>
              <a:t>Robotics &amp; Drones</a:t>
            </a:r>
          </a:p>
          <a:p>
            <a:pPr>
              <a:spcAft>
                <a:spcPts val="800"/>
              </a:spcAft>
            </a:pPr>
            <a:r>
              <a:rPr sz="1900" b="1" dirty="0">
                <a:solidFill>
                  <a:srgbClr val="20262B"/>
                </a:solidFill>
                <a:latin typeface="Arial"/>
              </a:rPr>
              <a:t>•  PS Category: </a:t>
            </a:r>
            <a:r>
              <a:rPr sz="1800" dirty="0">
                <a:solidFill>
                  <a:srgbClr val="20262B"/>
                </a:solidFill>
                <a:latin typeface="Arial"/>
              </a:rPr>
              <a:t>Hardware</a:t>
            </a:r>
          </a:p>
          <a:p>
            <a:pPr>
              <a:spcAft>
                <a:spcPts val="800"/>
              </a:spcAft>
            </a:pPr>
            <a:r>
              <a:rPr sz="1900" b="1" dirty="0">
                <a:solidFill>
                  <a:srgbClr val="20262B"/>
                </a:solidFill>
                <a:latin typeface="Arial"/>
              </a:rPr>
              <a:t>•  Team ID: </a:t>
            </a:r>
            <a:r>
              <a:rPr lang="en-IN" dirty="0">
                <a:solidFill>
                  <a:srgbClr val="20262B"/>
                </a:solidFill>
                <a:latin typeface="Arial"/>
              </a:rPr>
              <a:t>AU/SIH/26-126 </a:t>
            </a:r>
          </a:p>
          <a:p>
            <a:pPr>
              <a:spcAft>
                <a:spcPts val="800"/>
              </a:spcAft>
            </a:pPr>
            <a:r>
              <a:rPr sz="1900" b="1" dirty="0">
                <a:solidFill>
                  <a:srgbClr val="20262B"/>
                </a:solidFill>
                <a:latin typeface="Arial"/>
              </a:rPr>
              <a:t>•  Team Name:</a:t>
            </a:r>
            <a:r>
              <a:rPr lang="en-US" sz="1900" b="1" dirty="0">
                <a:solidFill>
                  <a:srgbClr val="20262B"/>
                </a:solidFill>
                <a:latin typeface="Arial"/>
              </a:rPr>
              <a:t> </a:t>
            </a:r>
            <a:r>
              <a:rPr lang="en-IN" sz="1900" b="1" dirty="0">
                <a:solidFill>
                  <a:srgbClr val="20262B"/>
                </a:solidFill>
                <a:latin typeface="Arial"/>
              </a:rPr>
              <a:t>AMRX</a:t>
            </a:r>
            <a:endParaRPr sz="1800" dirty="0">
              <a:solidFill>
                <a:srgbClr val="20262B"/>
              </a:solidFill>
              <a:latin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033271"/>
          </a:xfrm>
        </p:spPr>
        <p:txBody>
          <a:bodyPr wrap="square"/>
          <a:lstStyle/>
          <a:p>
            <a:pPr eaLnBrk="1" hangingPunct="1"/>
            <a:r>
              <a:rPr lang="en-IN" sz="2800" b="1" u="sng" dirty="0"/>
              <a:t>GENERATIVELY DESIGNED MODULAR AMR</a:t>
            </a:r>
            <a:endParaRPr sz="2600" b="1" u="sng" dirty="0">
              <a:solidFill>
                <a:srgbClr val="20262B"/>
              </a:solidFill>
              <a:latin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300" b="1" dirty="0">
                <a:solidFill>
                  <a:srgbClr val="1F4E79"/>
                </a:solidFill>
                <a:latin typeface="Arial"/>
              </a:rPr>
              <a:t>AMR</a:t>
            </a:r>
            <a:r>
              <a:rPr lang="en-US" sz="1300" b="1" dirty="0">
                <a:solidFill>
                  <a:srgbClr val="1F4E79"/>
                </a:solidFill>
                <a:latin typeface="Arial"/>
              </a:rPr>
              <a:t>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182998" y="1051560"/>
            <a:ext cx="5696692" cy="76944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IN" sz="2400" b="1" u="sng" dirty="0">
                <a:solidFill>
                  <a:schemeClr val="accent1"/>
                </a:solidFill>
              </a:rPr>
              <a:t>Part A — Universal Base Chassis </a:t>
            </a:r>
            <a:r>
              <a:rPr lang="en-IN" sz="2000" b="1" u="sng" dirty="0">
                <a:solidFill>
                  <a:schemeClr val="accent1"/>
                </a:solidFill>
              </a:rPr>
              <a:t>("Mothership"):</a:t>
            </a:r>
            <a:endParaRPr sz="2200" b="1" u="sng" dirty="0">
              <a:solidFill>
                <a:schemeClr val="accent1"/>
              </a:solidFill>
              <a:latin typeface="Arial"/>
            </a:endParaRPr>
          </a:p>
        </p:txBody>
      </p:sp>
      <p:sp>
        <p:nvSpPr>
          <p:cNvPr id="15365" name="TextBox 15364"/>
          <p:cNvSpPr txBox="1"/>
          <p:nvPr/>
        </p:nvSpPr>
        <p:spPr>
          <a:xfrm>
            <a:off x="182998" y="1810512"/>
            <a:ext cx="5056514" cy="1760482"/>
          </a:xfrm>
          <a:prstGeom prst="rect">
            <a:avLst/>
          </a:prstGeom>
          <a:noFill/>
        </p:spPr>
        <p:txBody>
          <a:bodyPr wrap="square" lIns="36576" tIns="18288" rIns="27432" bIns="18288">
            <a:spAutoFit/>
          </a:bodyPr>
          <a:lstStyle/>
          <a:p>
            <a:pPr lvl="0"/>
            <a:r>
              <a:rPr lang="en-IN" sz="1400" b="1" dirty="0"/>
              <a:t>Core Hardware:</a:t>
            </a:r>
            <a:r>
              <a:rPr lang="en-IN" sz="1400" dirty="0"/>
              <a:t> Houses drive motors, battery, electronics, and navigation systems as a common mobile platform.</a:t>
            </a:r>
          </a:p>
          <a:p>
            <a:pPr lvl="0"/>
            <a:r>
              <a:rPr lang="en-IN" sz="1400" b="1" dirty="0"/>
              <a:t>Generative Design:</a:t>
            </a:r>
            <a:r>
              <a:rPr lang="en-IN" sz="1400" dirty="0"/>
              <a:t> Engineered using Autodesk Fusion Generative Design &amp; Topology Optimization to withstand real warehouse forces </a:t>
            </a:r>
            <a:r>
              <a:rPr lang="en-IN" sz="1400" i="1" dirty="0"/>
              <a:t>(payload weight, braking shear, cornering torque, vibration)</a:t>
            </a:r>
            <a:r>
              <a:rPr lang="en-IN" sz="1400" dirty="0"/>
              <a:t>.</a:t>
            </a:r>
          </a:p>
          <a:p>
            <a:pPr lvl="0"/>
            <a:r>
              <a:rPr lang="en-IN" sz="1400" b="1" dirty="0"/>
              <a:t>Additive Manufacturing:</a:t>
            </a:r>
            <a:r>
              <a:rPr lang="en-IN" sz="1400" dirty="0"/>
              <a:t> Features an organic, ultra-lightweight structure optimized exclusively for 3D printing (bypassing traditional CNC/sheet metal).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-164678" y="3658474"/>
            <a:ext cx="4980026" cy="40011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lang="en-IN" sz="2000" b="1" u="sng" dirty="0">
                <a:solidFill>
                  <a:schemeClr val="accent1"/>
                </a:solidFill>
              </a:rPr>
              <a:t>Part B — Interchangeable Task Module:</a:t>
            </a:r>
            <a:endParaRPr sz="2000" b="1" u="sng" dirty="0">
              <a:solidFill>
                <a:schemeClr val="accent1"/>
              </a:solidFill>
            </a:endParaRPr>
          </a:p>
        </p:txBody>
      </p:sp>
      <p:sp>
        <p:nvSpPr>
          <p:cNvPr id="15368" name="TextBox 15367"/>
          <p:cNvSpPr txBox="1"/>
          <p:nvPr/>
        </p:nvSpPr>
        <p:spPr>
          <a:xfrm>
            <a:off x="182998" y="4151535"/>
            <a:ext cx="5056514" cy="3022366"/>
          </a:xfrm>
          <a:prstGeom prst="rect">
            <a:avLst/>
          </a:prstGeom>
          <a:noFill/>
        </p:spPr>
        <p:txBody>
          <a:bodyPr wrap="square" lIns="36576" tIns="18288" rIns="27432" bIns="18288">
            <a:spAutoFit/>
          </a:bodyPr>
          <a:lstStyle/>
          <a:p>
            <a:pPr lvl="0"/>
            <a:r>
              <a:rPr lang="en-IN" sz="1400" b="1" dirty="0"/>
              <a:t>Functional Attachment:</a:t>
            </a:r>
            <a:r>
              <a:rPr lang="en-IN" sz="1400" dirty="0"/>
              <a:t> Specialized add-on </a:t>
            </a:r>
            <a:r>
              <a:rPr lang="en-IN" sz="1400" i="1" dirty="0"/>
              <a:t>(e.g., bin-handling lift)</a:t>
            </a:r>
            <a:r>
              <a:rPr lang="en-IN" sz="1400" dirty="0"/>
              <a:t> to perform specific warehouse tasks.</a:t>
            </a:r>
          </a:p>
          <a:p>
            <a:pPr lvl="0"/>
            <a:r>
              <a:rPr lang="en-IN" sz="1400" b="1" dirty="0"/>
              <a:t>Tool-Less Quick Docking:</a:t>
            </a:r>
            <a:r>
              <a:rPr lang="en-IN" sz="1400" dirty="0"/>
              <a:t> Custom mechanical/electrical interface enabling rapid, bolt-free module swaps to instantly change robot roles.</a:t>
            </a:r>
          </a:p>
          <a:p>
            <a:pPr lvl="0"/>
            <a:endParaRPr lang="en-IN" sz="1400" dirty="0"/>
          </a:p>
          <a:p>
            <a:pPr lvl="0"/>
            <a:r>
              <a:rPr lang="en-IN" sz="2000" b="1" u="sng" dirty="0">
                <a:solidFill>
                  <a:schemeClr val="accent1"/>
                </a:solidFill>
              </a:rPr>
              <a:t>Innovation</a:t>
            </a:r>
            <a:r>
              <a:rPr lang="en-IN" sz="1400" dirty="0"/>
              <a:t> - </a:t>
            </a:r>
            <a:r>
              <a:rPr lang="en-IN" sz="1600" dirty="0"/>
              <a:t>First to combine generative lightweighting + high-load tool-less docking - Load path engineered as one system, not bolted-together parts</a:t>
            </a:r>
          </a:p>
          <a:p>
            <a:pPr lvl="0"/>
            <a:endParaRPr lang="en-IN" sz="1600" dirty="0"/>
          </a:p>
          <a:p>
            <a:pPr lvl="0"/>
            <a:endParaRPr lang="en-IN" sz="1400" dirty="0"/>
          </a:p>
          <a:p>
            <a:pPr lvl="0"/>
            <a:endParaRPr lang="en-IN" sz="1400" dirty="0"/>
          </a:p>
          <a:p>
            <a:pPr lvl="0"/>
            <a:endParaRPr lang="en-IN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FBB5FE-F7B3-74A7-A6C2-22F6E5E98C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2619" y="1156787"/>
            <a:ext cx="6584246" cy="43785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 eaLnBrk="1" hangingPunct="1"/>
            <a:r>
              <a:rPr sz="2700" b="1" dirty="0">
                <a:solidFill>
                  <a:srgbClr val="20262B"/>
                </a:solidFill>
                <a:latin typeface="Arial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300" b="1" dirty="0">
                <a:solidFill>
                  <a:srgbClr val="1F4E79"/>
                </a:solidFill>
                <a:latin typeface="Arial"/>
              </a:rPr>
              <a:t>AMR</a:t>
            </a:r>
            <a:r>
              <a:rPr lang="en-US" sz="1300" b="1" dirty="0">
                <a:solidFill>
                  <a:srgbClr val="1F4E79"/>
                </a:solidFill>
                <a:latin typeface="Arial"/>
              </a:rPr>
              <a:t>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201405" y="1065466"/>
            <a:ext cx="6048795" cy="344709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900" b="1" dirty="0">
                <a:solidFill>
                  <a:srgbClr val="1F4E79"/>
                </a:solidFill>
                <a:latin typeface="Arial"/>
              </a:rPr>
              <a:t>Technologies used :</a:t>
            </a:r>
          </a:p>
          <a:p>
            <a:r>
              <a:rPr lang="en-IN" sz="2000" dirty="0"/>
              <a:t>Fusion, Generative Design, Topology Optimization, Simulation, Render </a:t>
            </a:r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r>
              <a:rPr lang="en-IN" sz="2000" b="1" dirty="0">
                <a:solidFill>
                  <a:schemeClr val="accent1"/>
                </a:solidFill>
              </a:rPr>
              <a:t>Materials:</a:t>
            </a:r>
            <a:r>
              <a:rPr lang="en-IN" sz="2000" dirty="0"/>
              <a:t> AlSi10Mg (LPBF) nodes and 6061-T6 conventional members </a:t>
            </a:r>
          </a:p>
          <a:p>
            <a:r>
              <a:rPr lang="en-IN" sz="2000" b="1" dirty="0">
                <a:solidFill>
                  <a:schemeClr val="accent1"/>
                </a:solidFill>
              </a:rPr>
              <a:t>Prototyping</a:t>
            </a:r>
            <a:r>
              <a:rPr lang="en-IN" sz="2000" dirty="0"/>
              <a:t>: Slicer + desktop FDM/SLA print</a:t>
            </a:r>
          </a:p>
          <a:p>
            <a:endParaRPr sz="1900" b="1" dirty="0">
              <a:solidFill>
                <a:srgbClr val="1F4E79"/>
              </a:solidFill>
              <a:latin typeface="Arial"/>
            </a:endParaRPr>
          </a:p>
        </p:txBody>
      </p:sp>
      <p:sp>
        <p:nvSpPr>
          <p:cNvPr id="17416" name="TextBox 17415"/>
          <p:cNvSpPr txBox="1"/>
          <p:nvPr/>
        </p:nvSpPr>
        <p:spPr>
          <a:xfrm>
            <a:off x="1163600" y="4835376"/>
            <a:ext cx="29260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3072384" y="4238244"/>
            <a:ext cx="29260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5212080" y="5003476"/>
            <a:ext cx="29260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521207" y="3008375"/>
            <a:ext cx="29260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5093207" y="3008375"/>
            <a:ext cx="29260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pic>
        <p:nvPicPr>
          <p:cNvPr id="2" name="Picture 1" descr="Autodesk Fusion 360 Logo Vector PNG | Parametric 3D CAD Brand Mark - freepng">
            <a:extLst>
              <a:ext uri="{FF2B5EF4-FFF2-40B4-BE49-F238E27FC236}">
                <a16:creationId xmlns:a16="http://schemas.microsoft.com/office/drawing/2014/main" id="{70D3DBE4-8618-A283-652F-BC4B5A567B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012416"/>
            <a:ext cx="1143000" cy="1143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831A37-6B74-77B5-0519-0C12DB55B0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6647" y="310349"/>
            <a:ext cx="6938395" cy="4572573"/>
          </a:xfrm>
          <a:prstGeom prst="rect">
            <a:avLst/>
          </a:prstGeom>
        </p:spPr>
      </p:pic>
      <p:pic>
        <p:nvPicPr>
          <p:cNvPr id="8" name="Picture 7" descr="Simulation Linear Icon. Modern Outline Simulation Logo Concept O Stock Vector - Illustration of race, computer: 133525201">
            <a:extLst>
              <a:ext uri="{FF2B5EF4-FFF2-40B4-BE49-F238E27FC236}">
                <a16:creationId xmlns:a16="http://schemas.microsoft.com/office/drawing/2014/main" id="{31B28A74-401B-323F-BB89-85592C8262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3308" y="2042198"/>
            <a:ext cx="946950" cy="9469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B30066-83E4-EA86-D54A-3C864CE061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9585" y="4359661"/>
            <a:ext cx="4544568" cy="176031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613174A-4844-B3A1-F425-EDE9B8E01380}"/>
              </a:ext>
            </a:extLst>
          </p:cNvPr>
          <p:cNvSpPr txBox="1"/>
          <p:nvPr/>
        </p:nvSpPr>
        <p:spPr>
          <a:xfrm>
            <a:off x="4918640" y="5253281"/>
            <a:ext cx="253421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0" dirty="0">
                <a:solidFill>
                  <a:schemeClr val="tx1"/>
                </a:solidFill>
                <a:effectLst/>
                <a:latin typeface="Calibri" pitchFamily="34" charset="0"/>
              </a:rPr>
              <a:t>AlSi10Mg Powder Characterization: SEM Morphology &amp; Particle Size Distribution</a:t>
            </a:r>
            <a:endParaRPr lang="en-IN" sz="14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9337917-EAFF-9DF8-0992-9A96233E2E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75790" y="4942558"/>
            <a:ext cx="2249851" cy="11774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 eaLnBrk="1" hangingPunct="1"/>
            <a:r>
              <a:rPr sz="2600" b="1" dirty="0">
                <a:solidFill>
                  <a:srgbClr val="20262B"/>
                </a:solidFill>
                <a:latin typeface="Arial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5" y="48749"/>
            <a:ext cx="998142" cy="57068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300" b="1" dirty="0">
                <a:solidFill>
                  <a:srgbClr val="1F4E79"/>
                </a:solidFill>
                <a:latin typeface="Arial"/>
              </a:rPr>
              <a:t>AMR</a:t>
            </a:r>
            <a:r>
              <a:rPr lang="en-US" sz="1300" b="1" dirty="0">
                <a:solidFill>
                  <a:srgbClr val="1F4E79"/>
                </a:solidFill>
                <a:latin typeface="Arial"/>
              </a:rPr>
              <a:t>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162065" y="786582"/>
            <a:ext cx="6710683" cy="551689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lvl="0"/>
            <a:r>
              <a:rPr lang="en-IN" sz="1600" b="1" dirty="0"/>
              <a:t>Q: Is this idea actually feasible to build?</a:t>
            </a:r>
            <a:br>
              <a:rPr lang="en-IN" sz="1600" dirty="0"/>
            </a:br>
            <a:r>
              <a:rPr lang="en-IN" sz="1600" dirty="0"/>
              <a:t>A: </a:t>
            </a:r>
            <a:r>
              <a:rPr lang="en-IN" sz="1600" u="sng" dirty="0"/>
              <a:t>Hybrid Architecture</a:t>
            </a:r>
            <a:r>
              <a:rPr lang="en-IN" sz="1600" b="1" dirty="0"/>
              <a:t>:</a:t>
            </a:r>
            <a:r>
              <a:rPr lang="en-IN" sz="1600" dirty="0"/>
              <a:t> Print only high-stress corner nodes; use standard conventional tubes/plates for the rest. </a:t>
            </a:r>
          </a:p>
          <a:p>
            <a:pPr lvl="0"/>
            <a:r>
              <a:rPr lang="en-IN" sz="1600" u="sng" dirty="0"/>
              <a:t>Cost &amp; Volume Efficiency: </a:t>
            </a:r>
            <a:r>
              <a:rPr lang="en-IN" sz="1600" dirty="0"/>
              <a:t>Focuses additive manufacturing where needed, drastically reducing print costs and support volume</a:t>
            </a:r>
          </a:p>
          <a:p>
            <a:pPr lvl="0"/>
            <a:r>
              <a:rPr lang="en-IN" sz="1600" u="sng" dirty="0"/>
              <a:t>Zero Software Feasibility Gap</a:t>
            </a:r>
            <a:r>
              <a:rPr lang="en-IN" sz="1600" b="1" dirty="0"/>
              <a:t>:</a:t>
            </a:r>
            <a:r>
              <a:rPr lang="en-IN" sz="1600" dirty="0"/>
              <a:t> Full access to free student licenses for Autodesk Fusion (Generative Design, Topology Optimization, Simulation).</a:t>
            </a:r>
          </a:p>
          <a:p>
            <a:r>
              <a:rPr lang="en-IN" sz="1600" b="1" dirty="0"/>
              <a:t>Q: What could go wrong?</a:t>
            </a:r>
            <a:endParaRPr lang="en-IN" sz="1600" dirty="0"/>
          </a:p>
          <a:p>
            <a:pPr lvl="0"/>
            <a:r>
              <a:rPr lang="en-IN" sz="1600" u="sng" dirty="0"/>
              <a:t>Full printed chassis </a:t>
            </a:r>
            <a:r>
              <a:rPr lang="en-IN" sz="1600" dirty="0"/>
              <a:t>could become costly/support-heavy if over-applied</a:t>
            </a:r>
          </a:p>
          <a:p>
            <a:pPr lvl="0"/>
            <a:r>
              <a:rPr lang="en-IN" sz="1600" u="sng" dirty="0"/>
              <a:t>Docking </a:t>
            </a:r>
            <a:r>
              <a:rPr lang="en-IN" sz="1600" dirty="0"/>
              <a:t>interface risks slip, jamming, or over-constraint if locating/support/clamping aren't kept separate</a:t>
            </a:r>
          </a:p>
          <a:p>
            <a:pPr lvl="0"/>
            <a:r>
              <a:rPr lang="en-IN" sz="1600" u="sng" dirty="0"/>
              <a:t>Printed</a:t>
            </a:r>
            <a:r>
              <a:rPr lang="en-IN" sz="1600" dirty="0"/>
              <a:t> locators may wear or deform under repeated docking cycles</a:t>
            </a:r>
          </a:p>
          <a:p>
            <a:pPr lvl="0"/>
            <a:r>
              <a:rPr lang="en-IN" sz="1600" u="sng" dirty="0"/>
              <a:t>Open service </a:t>
            </a:r>
            <a:r>
              <a:rPr lang="en-IN" sz="1600" dirty="0"/>
              <a:t>cavity could weaken torsional stiffness if load paths aren't routed carefully</a:t>
            </a:r>
          </a:p>
          <a:p>
            <a:r>
              <a:rPr lang="en-IN" sz="1600" b="1" dirty="0"/>
              <a:t>Q: How do we solve these problems?</a:t>
            </a:r>
            <a:br>
              <a:rPr lang="en-IN" sz="1600" dirty="0"/>
            </a:br>
            <a:r>
              <a:rPr lang="en-IN" sz="1600" dirty="0"/>
              <a:t>A:</a:t>
            </a:r>
          </a:p>
          <a:p>
            <a:pPr lvl="0"/>
            <a:r>
              <a:rPr lang="en-IN" sz="1600" dirty="0"/>
              <a:t>Print only load-concentrating nodes; conventional members elsewhere</a:t>
            </a:r>
          </a:p>
          <a:p>
            <a:pPr lvl="0"/>
            <a:r>
              <a:rPr lang="en-IN" sz="1600" dirty="0"/>
              <a:t>Keep locating, vertical support, and clamp preload as separate geometric functions</a:t>
            </a:r>
          </a:p>
          <a:p>
            <a:pPr lvl="0"/>
            <a:r>
              <a:rPr lang="en-IN" sz="1600" dirty="0"/>
              <a:t>Use post-machined datum faces with replaceable hardened wear inserts</a:t>
            </a:r>
          </a:p>
          <a:p>
            <a:pPr lvl="0"/>
            <a:r>
              <a:rPr lang="en-IN" sz="1600" dirty="0"/>
              <a:t>Route load paths in triangulated patterns around the cavity perimeter</a:t>
            </a:r>
          </a:p>
          <a:p>
            <a:endParaRPr sz="1650" b="1" dirty="0">
              <a:solidFill>
                <a:srgbClr val="1F4E79"/>
              </a:solidFill>
              <a:latin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8E0348-8053-8CA1-140A-754AFD1C43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4543" y="1028792"/>
            <a:ext cx="6267896" cy="582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568735"/>
          </a:xfrm>
        </p:spPr>
        <p:txBody>
          <a:bodyPr wrap="square"/>
          <a:lstStyle/>
          <a:p>
            <a:pPr algn="ctr" eaLnBrk="1" hangingPunct="1"/>
            <a:r>
              <a:rPr sz="2700" b="1" dirty="0">
                <a:solidFill>
                  <a:srgbClr val="20262B"/>
                </a:solidFill>
                <a:latin typeface="Arial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5" y="1500"/>
            <a:ext cx="1047303" cy="73591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1F4E79"/>
                </a:solidFill>
                <a:latin typeface="Arial"/>
              </a:rPr>
              <a:t>AMRX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19" y="-59264"/>
            <a:ext cx="1253781" cy="592012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162064" y="786544"/>
            <a:ext cx="5039201" cy="380873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lvl="0"/>
            <a:r>
              <a:rPr lang="en-IN" sz="1600" b="1" dirty="0"/>
              <a:t>Warehouse Operators:</a:t>
            </a:r>
            <a:r>
              <a:rPr lang="en-IN" sz="1600" dirty="0"/>
              <a:t> A single base platform with hot-swappable task modules reduces total fleet </a:t>
            </a:r>
            <a:r>
              <a:rPr lang="en-IN" sz="1600" dirty="0" err="1"/>
              <a:t>CapEx</a:t>
            </a:r>
            <a:r>
              <a:rPr lang="en-IN" sz="1600" dirty="0"/>
              <a:t> by </a:t>
            </a:r>
            <a:r>
              <a:rPr lang="en-IN" sz="1600" b="1" dirty="0"/>
              <a:t>~28–40%</a:t>
            </a:r>
            <a:r>
              <a:rPr lang="en-IN" sz="1600" dirty="0"/>
              <a:t> by eliminating the need for dedicated single-purpose vehicles.</a:t>
            </a:r>
          </a:p>
          <a:p>
            <a:pPr lvl="0"/>
            <a:r>
              <a:rPr lang="en-IN" sz="1600" b="1" dirty="0"/>
              <a:t>Maintenance &amp; Serviceability:</a:t>
            </a:r>
            <a:r>
              <a:rPr lang="en-IN" sz="1600" dirty="0"/>
              <a:t> Designed with an open-access central service bay and field-replaceable hardened wear inserts at primary precision datums to minimize downtime.</a:t>
            </a:r>
          </a:p>
          <a:p>
            <a:pPr lvl="0"/>
            <a:r>
              <a:rPr lang="en-IN" sz="1600" b="1" dirty="0"/>
              <a:t>Engineering Value:</a:t>
            </a:r>
            <a:r>
              <a:rPr lang="en-IN" sz="1600" dirty="0"/>
              <a:t> Topology-optimized load paths handle explicit multi-axis stresses (braking, turning torque, payload shear) with maximum mass-to-stiffness efficiency.</a:t>
            </a:r>
          </a:p>
          <a:p>
            <a:pPr lvl="0"/>
            <a:r>
              <a:rPr lang="en-IN" sz="1600" b="1" dirty="0"/>
              <a:t>Manufacturing &amp; Environment:</a:t>
            </a:r>
            <a:r>
              <a:rPr lang="en-IN" sz="1600" dirty="0"/>
              <a:t> Support-free node geometry minimizes raw LPBF print volume, while the lighter overall frame lowers energy draw per duty cycle.</a:t>
            </a:r>
          </a:p>
          <a:p>
            <a:endParaRPr sz="1750" b="1" dirty="0">
              <a:solidFill>
                <a:srgbClr val="1F4E79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B5622C-3B74-27C1-3720-3D0B761FD0D0}"/>
              </a:ext>
            </a:extLst>
          </p:cNvPr>
          <p:cNvSpPr txBox="1"/>
          <p:nvPr/>
        </p:nvSpPr>
        <p:spPr>
          <a:xfrm>
            <a:off x="162065" y="4355690"/>
            <a:ext cx="538332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1"/>
                </a:solidFill>
                <a:effectLst/>
                <a:latin typeface="Calibri" pitchFamily="34" charset="0"/>
              </a:rPr>
              <a:t>Business Case &amp; Commercial Strategy</a:t>
            </a:r>
            <a:endParaRPr lang="en-IN" dirty="0">
              <a:solidFill>
                <a:schemeClr val="accent1"/>
              </a:solidFill>
              <a:effectLst/>
              <a:latin typeface="Calibri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effectLst/>
                <a:latin typeface="Calibri" pitchFamily="34" charset="0"/>
              </a:rPr>
              <a:t>Market Gap:</a:t>
            </a:r>
            <a:r>
              <a:rPr lang="en-IN" dirty="0">
                <a:effectLst/>
                <a:latin typeface="Calibri" pitchFamily="34" charset="0"/>
              </a:rPr>
              <a:t> Current market solutions force logistics operators to purchase separate, dedicated AMRs for every unique workflow. Our solution fills this gap by offering a single universal base platform paired with task-specific modules.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3AACE5-B321-187F-1D83-4587C0A0E416}"/>
              </a:ext>
            </a:extLst>
          </p:cNvPr>
          <p:cNvSpPr txBox="1"/>
          <p:nvPr/>
        </p:nvSpPr>
        <p:spPr>
          <a:xfrm>
            <a:off x="5383330" y="4355690"/>
            <a:ext cx="664660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>
                <a:effectLst/>
                <a:latin typeface="Calibri" pitchFamily="34" charset="0"/>
              </a:rPr>
              <a:t>Profitability &amp; Revenue Model:</a:t>
            </a:r>
            <a:endParaRPr lang="en-IN" sz="1600" dirty="0">
              <a:effectLst/>
              <a:latin typeface="Calibri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1" dirty="0">
                <a:effectLst/>
                <a:latin typeface="Calibri" pitchFamily="34" charset="0"/>
              </a:rPr>
              <a:t>Hardware Sales:</a:t>
            </a:r>
            <a:r>
              <a:rPr lang="en-IN" sz="1600" dirty="0">
                <a:effectLst/>
                <a:latin typeface="Calibri" pitchFamily="34" charset="0"/>
              </a:rPr>
              <a:t> 40–50% gross margins on base units by using hybrid LPBF node printing rather than full-frame additive manufacturing.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1" dirty="0">
                <a:effectLst/>
                <a:latin typeface="Calibri" pitchFamily="34" charset="0"/>
              </a:rPr>
              <a:t>Module Ecosystem:</a:t>
            </a:r>
            <a:r>
              <a:rPr lang="en-IN" sz="1600" dirty="0">
                <a:effectLst/>
                <a:latin typeface="Calibri" pitchFamily="34" charset="0"/>
              </a:rPr>
              <a:t> Recurring revenue from high-margin quick-dock task attachments (conveyors, lifters, robotic arm mounts).</a:t>
            </a:r>
            <a:endParaRPr lang="en-IN" sz="1600" dirty="0">
              <a:effectLst/>
              <a:latin typeface="Google Sans Text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AF180BD-C56E-4C7B-4724-9983BE78B16D}"/>
              </a:ext>
            </a:extLst>
          </p:cNvPr>
          <p:cNvSpPr/>
          <p:nvPr/>
        </p:nvSpPr>
        <p:spPr>
          <a:xfrm>
            <a:off x="5332600" y="3903406"/>
            <a:ext cx="6387452" cy="39072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Proposed Hybrid generative AMR v/s </a:t>
            </a:r>
            <a:r>
              <a:rPr lang="en-US" dirty="0" err="1"/>
              <a:t>Exisiting</a:t>
            </a:r>
            <a:r>
              <a:rPr lang="en-US" dirty="0"/>
              <a:t> commercial options </a:t>
            </a: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959B63D-A28A-DDE7-68D8-B4051BDE88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4846068"/>
              </p:ext>
            </p:extLst>
          </p:nvPr>
        </p:nvGraphicFramePr>
        <p:xfrm>
          <a:off x="5281146" y="534659"/>
          <a:ext cx="6387450" cy="3309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9150">
                  <a:extLst>
                    <a:ext uri="{9D8B030D-6E8A-4147-A177-3AD203B41FA5}">
                      <a16:colId xmlns:a16="http://schemas.microsoft.com/office/drawing/2014/main" val="2142708914"/>
                    </a:ext>
                  </a:extLst>
                </a:gridCol>
                <a:gridCol w="2129150">
                  <a:extLst>
                    <a:ext uri="{9D8B030D-6E8A-4147-A177-3AD203B41FA5}">
                      <a16:colId xmlns:a16="http://schemas.microsoft.com/office/drawing/2014/main" val="3888960839"/>
                    </a:ext>
                  </a:extLst>
                </a:gridCol>
                <a:gridCol w="2129150">
                  <a:extLst>
                    <a:ext uri="{9D8B030D-6E8A-4147-A177-3AD203B41FA5}">
                      <a16:colId xmlns:a16="http://schemas.microsoft.com/office/drawing/2014/main" val="3904063877"/>
                    </a:ext>
                  </a:extLst>
                </a:gridCol>
              </a:tblGrid>
              <a:tr h="593598">
                <a:tc>
                  <a:txBody>
                    <a:bodyPr/>
                    <a:lstStyle/>
                    <a:p>
                      <a:r>
                        <a:rPr lang="en-IN" sz="1100" dirty="0"/>
                        <a:t>Feature /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Commercial Benchmark Platforms (MiR250, OTTO 100, OTTO 1500)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Proposed Hybrid Generative AMR Chassis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886799"/>
                  </a:ext>
                </a:extLst>
              </a:tr>
              <a:tr h="763198">
                <a:tc>
                  <a:txBody>
                    <a:bodyPr/>
                    <a:lstStyle/>
                    <a:p>
                      <a:r>
                        <a:rPr lang="en-IN" sz="1100" dirty="0"/>
                        <a:t>Frame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Heavy-gauge steel weldments with flat bolted top plates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Hybrid LPBF AlSi10Mg generative nodes combined with standard 6061-T6 structural profiles.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0864293"/>
                  </a:ext>
                </a:extLst>
              </a:tr>
              <a:tr h="593598">
                <a:tc>
                  <a:txBody>
                    <a:bodyPr/>
                    <a:lstStyle/>
                    <a:p>
                      <a:r>
                        <a:rPr lang="en-IN" sz="1100" dirty="0"/>
                        <a:t>Top Module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Non-modular or semi-permanent bolting requiring manual re-tooling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Exact-constraint, tool-less quick-dock interface for instant task swapping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4908221"/>
                  </a:ext>
                </a:extLst>
              </a:tr>
              <a:tr h="593598">
                <a:tc>
                  <a:txBody>
                    <a:bodyPr/>
                    <a:lstStyle/>
                    <a:p>
                      <a:r>
                        <a:rPr lang="en-IN" sz="1100" dirty="0"/>
                        <a:t>Self-Weight &amp; 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High dead weight (~78–94 kg for MiR250) leading to higher energy draw per cycle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High strength-to-weight ratio; optimized material distribution lowers battery consumption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6169317"/>
                  </a:ext>
                </a:extLst>
              </a:tr>
              <a:tr h="763198">
                <a:tc>
                  <a:txBody>
                    <a:bodyPr/>
                    <a:lstStyle/>
                    <a:p>
                      <a:r>
                        <a:rPr lang="en-IN" sz="1100" dirty="0"/>
                        <a:t>Fleet Utilization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Low flexibility; requires separate vehicle fleets for distinct tasks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High flexibility; one base platform dynamically switches between conveyor, lift, and robotic arm tasks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0307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BC1D5-4DA1-9949-BFEF-1DFED6448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47625"/>
            <a:ext cx="10746658" cy="863702"/>
          </a:xfrm>
        </p:spPr>
        <p:txBody>
          <a:bodyPr/>
          <a:lstStyle/>
          <a:p>
            <a:r>
              <a:rPr lang="en-US" b="1" u="sng" dirty="0"/>
              <a:t>Existing solutions </a:t>
            </a:r>
            <a:endParaRPr lang="en-IN" b="1" u="sng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A9B8C3-7734-AD04-75E0-D7D9186EB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1DCEE4-0D2A-0249-B19D-A85055E45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Oval 6" descr="Your startup LOGO">
            <a:extLst>
              <a:ext uri="{FF2B5EF4-FFF2-40B4-BE49-F238E27FC236}">
                <a16:creationId xmlns:a16="http://schemas.microsoft.com/office/drawing/2014/main" id="{C8BFD559-2C81-31C5-C1B5-281594DD2D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5" y="1500"/>
            <a:ext cx="1047303" cy="73591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1F4E79"/>
                </a:solidFill>
                <a:latin typeface="Arial"/>
              </a:rPr>
              <a:t>AMRX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70175B-E7F6-65A6-FBFB-09D8E0A809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19" y="-59264"/>
            <a:ext cx="1253781" cy="59201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0A14590-9A17-6D1E-3AA7-977F8A381A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pic>
        <p:nvPicPr>
          <p:cNvPr id="12" name="Picture 11" descr="MiR250 autonomous mobile robot">
            <a:extLst>
              <a:ext uri="{FF2B5EF4-FFF2-40B4-BE49-F238E27FC236}">
                <a16:creationId xmlns:a16="http://schemas.microsoft.com/office/drawing/2014/main" id="{41D1C8E8-7EEA-1FA5-4169-95874365A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97" y="910123"/>
            <a:ext cx="2524125" cy="18097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385ABEB-3379-978D-4B62-69C76B2B35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98" y="3293806"/>
            <a:ext cx="3900280" cy="259371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A2304D8-3B0D-47CB-AF50-4FE56D5A2A3C}"/>
              </a:ext>
            </a:extLst>
          </p:cNvPr>
          <p:cNvSpPr txBox="1"/>
          <p:nvPr/>
        </p:nvSpPr>
        <p:spPr>
          <a:xfrm>
            <a:off x="4080387" y="3293806"/>
            <a:ext cx="5063613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b="1" dirty="0"/>
              <a:t>Payload:</a:t>
            </a:r>
            <a:r>
              <a:rPr lang="en-IN" sz="1400" dirty="0"/>
              <a:t> </a:t>
            </a:r>
            <a:r>
              <a:rPr lang="en-IN" sz="1400" b="1" dirty="0"/>
              <a:t>250 kg total top load</a:t>
            </a:r>
            <a:r>
              <a:rPr lang="en-IN" sz="14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b="1" dirty="0"/>
              <a:t>Footprint:</a:t>
            </a:r>
            <a:r>
              <a:rPr lang="en-IN" sz="1400" dirty="0"/>
              <a:t> </a:t>
            </a:r>
            <a:r>
              <a:rPr lang="en-IN" sz="1400" b="1" dirty="0"/>
              <a:t>800 × 600 × 500 mm</a:t>
            </a:r>
            <a:r>
              <a:rPr lang="en-IN" sz="14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b="1" dirty="0"/>
              <a:t>Chassis:</a:t>
            </a:r>
            <a:r>
              <a:rPr lang="en-IN" sz="1400" dirty="0"/>
              <a:t> Hybrid generative frame,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b="1" dirty="0"/>
              <a:t>Drive:</a:t>
            </a:r>
            <a:r>
              <a:rPr lang="en-IN" sz="1400" dirty="0"/>
              <a:t> </a:t>
            </a:r>
            <a:r>
              <a:rPr lang="en-IN" sz="1400" b="1" dirty="0"/>
              <a:t>2 × 750 W, 48 V geared BLDC/servo motors</a:t>
            </a:r>
            <a:r>
              <a:rPr lang="en-IN" sz="1400" dirty="0"/>
              <a:t>; commercial AGV drive units in this class support heavy-duty loads.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b="1" dirty="0"/>
              <a:t>Max Speed:</a:t>
            </a:r>
            <a:r>
              <a:rPr lang="en-IN" sz="1400" dirty="0"/>
              <a:t> </a:t>
            </a:r>
            <a:r>
              <a:rPr lang="en-IN" sz="1400" b="1" dirty="0"/>
              <a:t>1.8 m/s (6.5 km/h)</a:t>
            </a:r>
            <a:r>
              <a:rPr lang="en-IN" sz="1400" dirty="0"/>
              <a:t>;	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b="1" dirty="0"/>
              <a:t>Battery:</a:t>
            </a:r>
            <a:r>
              <a:rPr lang="en-IN" sz="1400" dirty="0"/>
              <a:t> </a:t>
            </a:r>
            <a:r>
              <a:rPr lang="en-IN" sz="1400" b="1" dirty="0"/>
              <a:t>48 V 60 Ah LFP — 2.88 kWh</a:t>
            </a:r>
            <a:r>
              <a:rPr lang="en-IN" sz="1400" dirty="0"/>
              <a:t>, roughly </a:t>
            </a:r>
            <a:r>
              <a:rPr lang="en-IN" sz="1400" b="1" dirty="0"/>
              <a:t>₹52K</a:t>
            </a:r>
            <a:r>
              <a:rPr lang="en-IN" sz="1400" dirty="0"/>
              <a:t> at current Indian retail.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b="1" dirty="0"/>
              <a:t>Compute:</a:t>
            </a:r>
            <a:r>
              <a:rPr lang="en-IN" sz="1400" dirty="0"/>
              <a:t> </a:t>
            </a:r>
            <a:r>
              <a:rPr lang="en-IN" sz="1400" b="1" dirty="0"/>
              <a:t>Jetson Orin Nano Super — 67 TOPS</a:t>
            </a:r>
            <a:r>
              <a:rPr lang="en-IN" sz="1400" dirty="0"/>
              <a:t>, 8 GB LPDDR5.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b="1" dirty="0"/>
              <a:t>Modular Interface:</a:t>
            </a:r>
            <a:r>
              <a:rPr lang="en-IN" sz="1400" dirty="0"/>
              <a:t> </a:t>
            </a:r>
            <a:r>
              <a:rPr lang="en-IN" sz="1400" b="1" dirty="0"/>
              <a:t>4-point 3-2-1 zero-point coupling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b="1" dirty="0"/>
              <a:t>Upper Module:</a:t>
            </a:r>
            <a:r>
              <a:rPr lang="en-IN" sz="1400" dirty="0"/>
              <a:t> Heavy-duty powered roller conveyor,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b="1" dirty="0"/>
              <a:t>Estimated Prototype BOM:</a:t>
            </a:r>
            <a:r>
              <a:rPr lang="en-IN" sz="1400" dirty="0"/>
              <a:t> </a:t>
            </a:r>
            <a:r>
              <a:rPr lang="en-IN" sz="1400" b="1" dirty="0"/>
              <a:t>₹5-6lakh</a:t>
            </a:r>
            <a:endParaRPr lang="en-IN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F62F13-500D-51F0-3F68-3A5F9EA00996}"/>
              </a:ext>
            </a:extLst>
          </p:cNvPr>
          <p:cNvSpPr txBox="1"/>
          <p:nvPr/>
        </p:nvSpPr>
        <p:spPr>
          <a:xfrm>
            <a:off x="9389806" y="1035241"/>
            <a:ext cx="12683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/>
              <a:t>USP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DB2FBC-7546-D7C3-FD5E-FC311AD423AE}"/>
              </a:ext>
            </a:extLst>
          </p:cNvPr>
          <p:cNvSpPr txBox="1"/>
          <p:nvPr/>
        </p:nvSpPr>
        <p:spPr>
          <a:xfrm>
            <a:off x="8263845" y="1415594"/>
            <a:ext cx="389865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Cheaper than other alternatives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Customizable according to the user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One AMR base, multiple warehouse jobs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Same common interface</a:t>
            </a:r>
            <a:r>
              <a:rPr lang="en-IN" sz="1400" dirty="0"/>
              <a:t> for conveyor, rack, towing or lifting modules</a:t>
            </a:r>
          </a:p>
          <a:p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B5EEC2-A143-AE44-D651-CBAA4A3F9ED5}"/>
              </a:ext>
            </a:extLst>
          </p:cNvPr>
          <p:cNvSpPr txBox="1"/>
          <p:nvPr/>
        </p:nvSpPr>
        <p:spPr>
          <a:xfrm>
            <a:off x="2360734" y="915319"/>
            <a:ext cx="527893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/>
              <a:t>MiR250 Benchmark Specs &amp; Cost</a:t>
            </a:r>
            <a:endParaRPr lang="en-IN" sz="1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b="1" dirty="0"/>
              <a:t>Payload Capacity:</a:t>
            </a:r>
            <a:r>
              <a:rPr lang="en-IN" sz="1400" dirty="0"/>
              <a:t> 250 kg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b="1" dirty="0"/>
              <a:t>Footprint &amp; Weight:</a:t>
            </a:r>
            <a:r>
              <a:rPr lang="en-IN" sz="1400" dirty="0"/>
              <a:t> 800 × 580 × 300 mm | 83–94 kg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b="1" dirty="0"/>
              <a:t>Max Speed:</a:t>
            </a:r>
            <a:r>
              <a:rPr lang="en-IN" sz="1400" dirty="0"/>
              <a:t> 2.0 m/s (7.2 km/h)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b="1" dirty="0"/>
              <a:t>Battery &amp; Runtime:</a:t>
            </a:r>
            <a:r>
              <a:rPr lang="en-IN" sz="1400" dirty="0"/>
              <a:t> Up to 17.5 hrs | 0–80% fast charge in 1 hr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b="1" dirty="0"/>
              <a:t>Navigation &amp; Safety:</a:t>
            </a:r>
            <a:r>
              <a:rPr lang="en-IN" sz="1400" dirty="0"/>
              <a:t> ±3 mm docking accuracy | 360° SICK LiDAR + 3D Cameras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b="1" dirty="0"/>
              <a:t>Base Price:</a:t>
            </a:r>
            <a:r>
              <a:rPr lang="en-IN" sz="1400" dirty="0"/>
              <a:t> ~$55,000–$65,000 USD (₹45–55 Lakhs INR)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C4F7EB-C178-7914-EBFE-7B833CDC71E0}"/>
              </a:ext>
            </a:extLst>
          </p:cNvPr>
          <p:cNvSpPr txBox="1"/>
          <p:nvPr/>
        </p:nvSpPr>
        <p:spPr>
          <a:xfrm>
            <a:off x="9026013" y="4377742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>
                <a:effectLst/>
                <a:latin typeface="Calibri" pitchFamily="34" charset="0"/>
              </a:rPr>
              <a:t>Target Audience:</a:t>
            </a:r>
            <a:r>
              <a:rPr lang="en-IN" sz="1600" dirty="0">
                <a:effectLst/>
                <a:latin typeface="Calibri" pitchFamily="34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Calibri" pitchFamily="34" charset="0"/>
              </a:rPr>
              <a:t>Automated 3PL warehouses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Calibri" pitchFamily="34" charset="0"/>
              </a:rPr>
              <a:t> e-commerce </a:t>
            </a:r>
            <a:r>
              <a:rPr lang="en-IN" sz="1600" dirty="0" err="1">
                <a:effectLst/>
                <a:latin typeface="Calibri" pitchFamily="34" charset="0"/>
              </a:rPr>
              <a:t>fulfillment</a:t>
            </a:r>
            <a:r>
              <a:rPr lang="en-IN" sz="1600" dirty="0">
                <a:effectLst/>
                <a:latin typeface="Calibri" pitchFamily="34" charset="0"/>
              </a:rPr>
              <a:t> </a:t>
            </a:r>
            <a:r>
              <a:rPr lang="en-IN" sz="1600" dirty="0" err="1">
                <a:effectLst/>
                <a:latin typeface="Calibri" pitchFamily="34" charset="0"/>
              </a:rPr>
              <a:t>centers</a:t>
            </a:r>
            <a:endParaRPr lang="en-IN" sz="1600" dirty="0">
              <a:effectLst/>
              <a:latin typeface="Calibri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Calibri" pitchFamily="34" charset="0"/>
              </a:rPr>
              <a:t> automotive assembly plants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Calibri" pitchFamily="34" charset="0"/>
              </a:rPr>
              <a:t>flexible manufacturing SMEs.</a:t>
            </a:r>
          </a:p>
        </p:txBody>
      </p:sp>
    </p:spTree>
    <p:extLst>
      <p:ext uri="{BB962C8B-B14F-4D97-AF65-F5344CB8AC3E}">
        <p14:creationId xmlns:p14="http://schemas.microsoft.com/office/powerpoint/2010/main" val="1920178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 eaLnBrk="1" hangingPunct="1"/>
            <a:r>
              <a:rPr sz="2700" b="1">
                <a:solidFill>
                  <a:srgbClr val="20262B"/>
                </a:solidFill>
                <a:latin typeface="Arial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300" b="1" dirty="0">
                <a:solidFill>
                  <a:srgbClr val="1F4E79"/>
                </a:solidFill>
                <a:latin typeface="Arial"/>
              </a:rPr>
              <a:t>AMR</a:t>
            </a:r>
            <a:r>
              <a:rPr lang="en-US" sz="1300" b="1" dirty="0">
                <a:solidFill>
                  <a:srgbClr val="1F4E79"/>
                </a:solidFill>
                <a:latin typeface="Arial"/>
              </a:rPr>
              <a:t>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461255-FBEA-FFDF-41DB-07DF763DD62C}"/>
              </a:ext>
            </a:extLst>
          </p:cNvPr>
          <p:cNvSpPr txBox="1"/>
          <p:nvPr/>
        </p:nvSpPr>
        <p:spPr>
          <a:xfrm>
            <a:off x="199103" y="1229033"/>
            <a:ext cx="889819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Autodesk Fusion — Generative Design: Manufacturing Method</a:t>
            </a:r>
          </a:p>
          <a:p>
            <a:r>
              <a:rPr lang="en-IN" dirty="0">
                <a:hlinkClick r:id="rId4"/>
              </a:rPr>
              <a:t>https://help.autodesk.com/view/fusion360/ENU/?contextId=GD-SPECIFY-MFG-METHOD</a:t>
            </a:r>
            <a:endParaRPr lang="en-IN" dirty="0"/>
          </a:p>
          <a:p>
            <a:r>
              <a:rPr lang="en-IN" dirty="0">
                <a:hlinkClick r:id="rId4"/>
              </a:rPr>
              <a:t>https://help.autodesk.com/view/fusion360/ENU/?contextId=GD-SPECIFY-MFG-METHOD</a:t>
            </a:r>
            <a:endParaRPr lang="en-IN" dirty="0"/>
          </a:p>
          <a:p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Laser powder bed fusion of AlSi10Mg </a:t>
            </a:r>
          </a:p>
          <a:p>
            <a:r>
              <a:rPr lang="en-IN" dirty="0">
                <a:hlinkClick r:id="rId5"/>
              </a:rPr>
              <a:t>https://www.sciencedirect.com/science/article/pii/S2588840425000617#fig1</a:t>
            </a:r>
            <a:endParaRPr lang="en-IN" dirty="0"/>
          </a:p>
          <a:p>
            <a:r>
              <a:rPr lang="en-IN" dirty="0">
                <a:hlinkClick r:id="rId6"/>
              </a:rPr>
              <a:t>https://pmc.ncbi.nlm.nih.gov/articles/PMC9415272/</a:t>
            </a:r>
            <a:endParaRPr lang="en-IN" dirty="0"/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Reviews of the existing solutions In the market </a:t>
            </a:r>
          </a:p>
          <a:p>
            <a:r>
              <a:rPr lang="en-IN" dirty="0">
                <a:hlinkClick r:id="rId7"/>
              </a:rPr>
              <a:t>https://antonrobots.com/mir250-review/</a:t>
            </a:r>
            <a:endParaRPr lang="en-IN" dirty="0"/>
          </a:p>
          <a:p>
            <a:r>
              <a:rPr lang="en-IN" dirty="0">
                <a:hlinkClick r:id="rId8"/>
              </a:rPr>
              <a:t>https://ottomotors.com/resources/videos/automate-your-cart-workflows-with-otto-100/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7802</TotalTime>
  <Words>1180</Words>
  <Application>Microsoft Office PowerPoint</Application>
  <PresentationFormat>Widescreen</PresentationFormat>
  <Paragraphs>141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Google Sans Text</vt:lpstr>
      <vt:lpstr>Times New Roman</vt:lpstr>
      <vt:lpstr>TradeGothic</vt:lpstr>
      <vt:lpstr>Office Theme</vt:lpstr>
      <vt:lpstr>SMART INDIA HACKATHON 2026</vt:lpstr>
      <vt:lpstr>GENERATIVELY DESIGNED MODULAR AMR</vt:lpstr>
      <vt:lpstr>TECHNICAL APPROACH</vt:lpstr>
      <vt:lpstr>FEASIBILITY AND VIABILITY</vt:lpstr>
      <vt:lpstr>IMPACT AND BENEFITS</vt:lpstr>
      <vt:lpstr>Existing solutions </vt:lpstr>
      <vt:lpstr>RESEARCH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Smruti Ranjan Sahoo</cp:lastModifiedBy>
  <cp:revision>151</cp:revision>
  <dcterms:created xsi:type="dcterms:W3CDTF">2013-12-12T18:46:50Z</dcterms:created>
  <dcterms:modified xsi:type="dcterms:W3CDTF">2026-09-05T11:12:42Z</dcterms:modified>
  <cp:category/>
</cp:coreProperties>
</file>